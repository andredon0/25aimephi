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30"/>
  </p:notesMasterIdLst>
  <p:sldIdLst>
    <p:sldId id="258" r:id="rId2"/>
    <p:sldId id="342" r:id="rId3"/>
    <p:sldId id="320" r:id="rId4"/>
    <p:sldId id="319" r:id="rId5"/>
    <p:sldId id="318" r:id="rId6"/>
    <p:sldId id="321" r:id="rId7"/>
    <p:sldId id="322" r:id="rId8"/>
    <p:sldId id="323" r:id="rId9"/>
    <p:sldId id="324" r:id="rId10"/>
    <p:sldId id="343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44" r:id="rId21"/>
    <p:sldId id="336" r:id="rId22"/>
    <p:sldId id="335" r:id="rId23"/>
    <p:sldId id="337" r:id="rId24"/>
    <p:sldId id="338" r:id="rId25"/>
    <p:sldId id="339" r:id="rId26"/>
    <p:sldId id="340" r:id="rId27"/>
    <p:sldId id="341" r:id="rId28"/>
    <p:sldId id="264" r:id="rId29"/>
  </p:sldIdLst>
  <p:sldSz cx="12192000" cy="6858000"/>
  <p:notesSz cx="6858000" cy="9144000"/>
  <p:embeddedFontLst>
    <p:embeddedFont>
      <p:font typeface="Montserrat" panose="00000500000000000000" pitchFamily="2" charset="-52"/>
      <p:regular r:id="rId31"/>
      <p:bold r:id="rId32"/>
      <p:italic r:id="rId33"/>
      <p:boldItalic r:id="rId3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2A"/>
    <a:srgbClr val="FF7300"/>
    <a:srgbClr val="0055BB"/>
    <a:srgbClr val="0061AF"/>
    <a:srgbClr val="8F9092"/>
    <a:srgbClr val="DDDEDE"/>
    <a:srgbClr val="222A3F"/>
    <a:srgbClr val="00B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87530" autoAdjust="0"/>
  </p:normalViewPr>
  <p:slideViewPr>
    <p:cSldViewPr snapToGrid="0" showGuides="1">
      <p:cViewPr varScale="1">
        <p:scale>
          <a:sx n="98" d="100"/>
          <a:sy n="98" d="100"/>
        </p:scale>
        <p:origin x="1398" y="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47551-394B-451F-AE92-D2757B0A81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EF530-4A13-48D4-9A1A-20DA9FA46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74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2"/>
          </p:nvPr>
        </p:nvSpPr>
        <p:spPr>
          <a:xfrm>
            <a:off x="560194" y="2567225"/>
            <a:ext cx="5704419" cy="461665"/>
          </a:xfrm>
        </p:spPr>
        <p:txBody>
          <a:bodyPr/>
          <a:lstStyle/>
          <a:p>
            <a:r>
              <a:rPr lang="ru-RU" dirty="0">
                <a:latin typeface="Montserrat" panose="020B0604020202020204" charset="-52"/>
              </a:rPr>
              <a:t>Егоров Алексей, Егорова </a:t>
            </a:r>
            <a:r>
              <a:rPr lang="ru-RU" dirty="0" err="1">
                <a:latin typeface="Montserrat" panose="020B0604020202020204" charset="-52"/>
              </a:rPr>
              <a:t>Аделя</a:t>
            </a:r>
            <a:endParaRPr lang="ru-RU" dirty="0">
              <a:latin typeface="Montserrat" panose="020B0604020202020204" charset="-52"/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560193" y="3198167"/>
            <a:ext cx="8155789" cy="646331"/>
          </a:xfrm>
        </p:spPr>
        <p:txBody>
          <a:bodyPr/>
          <a:lstStyle/>
          <a:p>
            <a:r>
              <a:rPr lang="ru-RU" dirty="0"/>
              <a:t>Трансформеры сегодня</a:t>
            </a:r>
          </a:p>
        </p:txBody>
      </p:sp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188B9E7-F7F3-C829-5CB3-4F8764BC3F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AC3FE7-0E15-FDFC-E95F-5A54F8357E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A170A4-B075-8496-185E-FE0A9FC545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98167"/>
            <a:ext cx="5772512" cy="2308324"/>
          </a:xfrm>
        </p:spPr>
        <p:txBody>
          <a:bodyPr/>
          <a:lstStyle/>
          <a:p>
            <a:r>
              <a:rPr lang="ru-RU" dirty="0"/>
              <a:t>Ещё раз про трансформеры</a:t>
            </a:r>
          </a:p>
        </p:txBody>
      </p:sp>
    </p:spTree>
    <p:extLst>
      <p:ext uri="{BB962C8B-B14F-4D97-AF65-F5344CB8AC3E}">
        <p14:creationId xmlns:p14="http://schemas.microsoft.com/office/powerpoint/2010/main" val="309485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7771B-FE9F-1615-A48C-EEA240356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2633C-800C-EBB7-3BAF-747F4C66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9199890" cy="954107"/>
          </a:xfrm>
        </p:spPr>
        <p:txBody>
          <a:bodyPr/>
          <a:lstStyle/>
          <a:p>
            <a:r>
              <a:rPr lang="ru-RU" dirty="0"/>
              <a:t>Немного о размерностях матриц в трансформерах</a:t>
            </a:r>
          </a:p>
        </p:txBody>
      </p:sp>
      <p:pic>
        <p:nvPicPr>
          <p:cNvPr id="17410" name="Picture 2" descr="Что такое трансформеры? (машинное обучение)">
            <a:extLst>
              <a:ext uri="{FF2B5EF4-FFF2-40B4-BE49-F238E27FC236}">
                <a16:creationId xmlns:a16="http://schemas.microsoft.com/office/drawing/2014/main" id="{38A6E5DA-1B64-0CB4-BD57-8AF15736C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722" y="1264529"/>
            <a:ext cx="3692795" cy="514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1797A5-3AD7-5AD8-B296-21BA050DE342}"/>
              </a:ext>
            </a:extLst>
          </p:cNvPr>
          <p:cNvSpPr txBox="1"/>
          <p:nvPr/>
        </p:nvSpPr>
        <p:spPr>
          <a:xfrm>
            <a:off x="5865778" y="5796171"/>
            <a:ext cx="59046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вход поступает токен, у каждого токена размерность словаря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Токенов может быть несколько (или много)</a:t>
            </a:r>
            <a:r>
              <a:rPr lang="en-US" sz="1050" dirty="0">
                <a:latin typeface="Montserrat" panose="00000500000000000000" pitchFamily="2" charset="-52"/>
              </a:rPr>
              <a:t> –</a:t>
            </a:r>
            <a:r>
              <a:rPr lang="ru-RU" sz="1050" dirty="0">
                <a:latin typeface="Montserrat" panose="00000500000000000000" pitchFamily="2" charset="-52"/>
              </a:rPr>
              <a:t> обычно это называется длиной последовательности</a:t>
            </a:r>
            <a:r>
              <a:rPr lang="en-US" sz="1050" dirty="0">
                <a:latin typeface="Montserrat" panose="00000500000000000000" pitchFamily="2" charset="-52"/>
              </a:rPr>
              <a:t>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Входная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ru-RU" sz="105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06238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A9293-F271-3FB5-F532-C2726853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</a:t>
            </a:r>
            <a:r>
              <a:rPr lang="ru-RU" dirty="0" err="1"/>
              <a:t>эмбединги</a:t>
            </a:r>
            <a:r>
              <a:rPr lang="ru-RU" dirty="0"/>
              <a:t>?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2EA8E28-B4D0-DA34-9644-B3E217328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150962"/>
              </p:ext>
            </p:extLst>
          </p:nvPr>
        </p:nvGraphicFramePr>
        <p:xfrm>
          <a:off x="718765" y="1574800"/>
          <a:ext cx="10847422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980">
                  <a:extLst>
                    <a:ext uri="{9D8B030D-6E8A-4147-A177-3AD203B41FA5}">
                      <a16:colId xmlns:a16="http://schemas.microsoft.com/office/drawing/2014/main" val="2937894837"/>
                    </a:ext>
                  </a:extLst>
                </a:gridCol>
                <a:gridCol w="4078987">
                  <a:extLst>
                    <a:ext uri="{9D8B030D-6E8A-4147-A177-3AD203B41FA5}">
                      <a16:colId xmlns:a16="http://schemas.microsoft.com/office/drawing/2014/main" val="97097532"/>
                    </a:ext>
                  </a:extLst>
                </a:gridCol>
                <a:gridCol w="4591455">
                  <a:extLst>
                    <a:ext uri="{9D8B030D-6E8A-4147-A177-3AD203B41FA5}">
                      <a16:colId xmlns:a16="http://schemas.microsoft.com/office/drawing/2014/main" val="1515377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Пространство словаря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Пространство </a:t>
                      </a:r>
                      <a:r>
                        <a:rPr lang="ru-RU" dirty="0" err="1"/>
                        <a:t>эмбедингов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1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Семантика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 векторы словаря ортогональны друг другу (это логичное следствие </a:t>
                      </a:r>
                      <a:r>
                        <a:rPr lang="en-US" dirty="0"/>
                        <a:t>one-hot </a:t>
                      </a:r>
                      <a:r>
                        <a:rPr lang="ru-RU" dirty="0"/>
                        <a:t>кодирования). По сути это значит, что все вектора одинаково далеки друг от друга, составляя базис словарного пространства.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Итоговые вектора отражают семантическую близость друг к другу.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5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Вычислительная сложность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Словари имеют очень большой размер. Сложность вычислений зависит от словаря линейно.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Эмбединги</a:t>
                      </a:r>
                      <a:r>
                        <a:rPr lang="ru-RU" dirty="0"/>
                        <a:t> имеют на пару порядков меньшую размерность.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838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Разрежённость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Вектора словаря в связи с </a:t>
                      </a:r>
                      <a:r>
                        <a:rPr lang="en-US" dirty="0"/>
                        <a:t>one-hot </a:t>
                      </a:r>
                      <a:r>
                        <a:rPr lang="ru-RU" dirty="0"/>
                        <a:t>кодирование очень разряжены. Это уменьшает эффективность любой дальнейшей работы с ними.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Эмбединги</a:t>
                      </a:r>
                      <a:r>
                        <a:rPr lang="ru-RU" dirty="0"/>
                        <a:t> получаются достаточно плотными.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375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97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9199890" cy="954107"/>
          </a:xfrm>
        </p:spPr>
        <p:txBody>
          <a:bodyPr/>
          <a:lstStyle/>
          <a:p>
            <a:r>
              <a:rPr lang="ru-RU" dirty="0"/>
              <a:t>Немного о размерностях матриц в трансформерах</a:t>
            </a:r>
          </a:p>
        </p:txBody>
      </p:sp>
      <p:pic>
        <p:nvPicPr>
          <p:cNvPr id="17410" name="Picture 2" descr="Что такое трансформеры? (машинное обучение)">
            <a:extLst>
              <a:ext uri="{FF2B5EF4-FFF2-40B4-BE49-F238E27FC236}">
                <a16:creationId xmlns:a16="http://schemas.microsoft.com/office/drawing/2014/main" id="{1F70CD61-AD66-32FD-FD09-5DBB8E3C2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722" y="1264529"/>
            <a:ext cx="3692795" cy="514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F5B7F3-64AF-9CB7-11AE-E852A001F884}"/>
              </a:ext>
            </a:extLst>
          </p:cNvPr>
          <p:cNvSpPr txBox="1"/>
          <p:nvPr/>
        </p:nvSpPr>
        <p:spPr>
          <a:xfrm>
            <a:off x="5865778" y="5796171"/>
            <a:ext cx="59046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вход поступает токен, у каждого токена размерность словаря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Токенов может быть несколько (или много)</a:t>
            </a:r>
            <a:r>
              <a:rPr lang="en-US" sz="1050" dirty="0">
                <a:latin typeface="Montserrat" panose="00000500000000000000" pitchFamily="2" charset="-52"/>
              </a:rPr>
              <a:t> –</a:t>
            </a:r>
            <a:r>
              <a:rPr lang="ru-RU" sz="1050" dirty="0">
                <a:latin typeface="Montserrat" panose="00000500000000000000" pitchFamily="2" charset="-52"/>
              </a:rPr>
              <a:t> обычно это называется длиной последовательности</a:t>
            </a:r>
            <a:r>
              <a:rPr lang="en-US" sz="1050" dirty="0">
                <a:latin typeface="Montserrat" panose="00000500000000000000" pitchFamily="2" charset="-52"/>
              </a:rPr>
              <a:t>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Входная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ru-RU" sz="1050" dirty="0">
              <a:latin typeface="Montserrat" panose="00000500000000000000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C1199-E385-6013-7766-3A6772616201}"/>
              </a:ext>
            </a:extLst>
          </p:cNvPr>
          <p:cNvSpPr txBox="1"/>
          <p:nvPr/>
        </p:nvSpPr>
        <p:spPr>
          <a:xfrm>
            <a:off x="5865778" y="5219090"/>
            <a:ext cx="59046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После применения слоя </a:t>
            </a:r>
            <a:r>
              <a:rPr lang="ru-RU" sz="1050" dirty="0" err="1">
                <a:latin typeface="Montserrat" panose="00000500000000000000" pitchFamily="2" charset="-52"/>
              </a:rPr>
              <a:t>эмбедингов</a:t>
            </a:r>
            <a:r>
              <a:rPr lang="ru-RU" sz="1050" dirty="0">
                <a:latin typeface="Montserrat" panose="00000500000000000000" pitchFamily="2" charset="-52"/>
              </a:rPr>
              <a:t> (его техническая реализация отличается от простого линейного слоя, но в целом они похожи) </a:t>
            </a:r>
            <a:r>
              <a:rPr lang="ru-RU" sz="1050" dirty="0" err="1">
                <a:latin typeface="Montserrat" panose="00000500000000000000" pitchFamily="2" charset="-52"/>
              </a:rPr>
              <a:t>получется</a:t>
            </a:r>
            <a:r>
              <a:rPr lang="ru-RU" sz="1050" dirty="0">
                <a:latin typeface="Montserrat" panose="00000500000000000000" pitchFamily="2" charset="-52"/>
              </a:rPr>
              <a:t> размерность 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endParaRPr lang="ru-RU" sz="105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6387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04B39-687F-2575-28B7-1A768EC8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53C89A-F40B-C967-3CFA-01961C732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9199890" cy="954107"/>
          </a:xfrm>
        </p:spPr>
        <p:txBody>
          <a:bodyPr/>
          <a:lstStyle/>
          <a:p>
            <a:r>
              <a:rPr lang="ru-RU" dirty="0"/>
              <a:t>Немного о размерностях матриц в трансформерах</a:t>
            </a:r>
          </a:p>
        </p:txBody>
      </p:sp>
      <p:pic>
        <p:nvPicPr>
          <p:cNvPr id="17410" name="Picture 2" descr="Что такое трансформеры? (машинное обучение)">
            <a:extLst>
              <a:ext uri="{FF2B5EF4-FFF2-40B4-BE49-F238E27FC236}">
                <a16:creationId xmlns:a16="http://schemas.microsoft.com/office/drawing/2014/main" id="{B24E1A17-1978-AF04-7605-0671AC4E2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722" y="1264529"/>
            <a:ext cx="3692795" cy="514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83F4AA-21B7-7800-637A-15F1EED2BF68}"/>
              </a:ext>
            </a:extLst>
          </p:cNvPr>
          <p:cNvSpPr txBox="1"/>
          <p:nvPr/>
        </p:nvSpPr>
        <p:spPr>
          <a:xfrm>
            <a:off x="5865778" y="5796171"/>
            <a:ext cx="59046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вход поступает токен, у каждого токена размерность словаря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Токенов может быть несколько (или много)</a:t>
            </a:r>
            <a:r>
              <a:rPr lang="en-US" sz="1050" dirty="0">
                <a:latin typeface="Montserrat" panose="00000500000000000000" pitchFamily="2" charset="-52"/>
              </a:rPr>
              <a:t> –</a:t>
            </a:r>
            <a:r>
              <a:rPr lang="ru-RU" sz="1050" dirty="0">
                <a:latin typeface="Montserrat" panose="00000500000000000000" pitchFamily="2" charset="-52"/>
              </a:rPr>
              <a:t> обычно это называется длиной последовательности</a:t>
            </a:r>
            <a:r>
              <a:rPr lang="en-US" sz="1050" dirty="0">
                <a:latin typeface="Montserrat" panose="00000500000000000000" pitchFamily="2" charset="-52"/>
              </a:rPr>
              <a:t>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Входная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ru-RU" sz="1050" dirty="0">
              <a:latin typeface="Montserrat" panose="00000500000000000000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D5AB0-9E79-4733-CA11-5F84BB65EAE2}"/>
              </a:ext>
            </a:extLst>
          </p:cNvPr>
          <p:cNvSpPr txBox="1"/>
          <p:nvPr/>
        </p:nvSpPr>
        <p:spPr>
          <a:xfrm>
            <a:off x="5865778" y="5219090"/>
            <a:ext cx="59046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После применения слоя </a:t>
            </a:r>
            <a:r>
              <a:rPr lang="ru-RU" sz="1050" dirty="0" err="1">
                <a:latin typeface="Montserrat" panose="00000500000000000000" pitchFamily="2" charset="-52"/>
              </a:rPr>
              <a:t>эмбедингов</a:t>
            </a:r>
            <a:r>
              <a:rPr lang="ru-RU" sz="1050" dirty="0">
                <a:latin typeface="Montserrat" panose="00000500000000000000" pitchFamily="2" charset="-52"/>
              </a:rPr>
              <a:t> (его техническая реализация отличается от простого линейного слоя, но в целом они похожи) </a:t>
            </a:r>
            <a:r>
              <a:rPr lang="ru-RU" sz="1050" dirty="0" err="1">
                <a:latin typeface="Montserrat" panose="00000500000000000000" pitchFamily="2" charset="-52"/>
              </a:rPr>
              <a:t>получется</a:t>
            </a:r>
            <a:r>
              <a:rPr lang="ru-RU" sz="1050" dirty="0">
                <a:latin typeface="Montserrat" panose="00000500000000000000" pitchFamily="2" charset="-52"/>
              </a:rPr>
              <a:t> размерность 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endParaRPr lang="ru-RU" sz="1050" dirty="0">
              <a:latin typeface="Montserrat" panose="000005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25D2FD-55A4-E8B5-FCE5-7A2B59B91974}"/>
              </a:ext>
            </a:extLst>
          </p:cNvPr>
          <p:cNvSpPr txBox="1"/>
          <p:nvPr/>
        </p:nvSpPr>
        <p:spPr>
          <a:xfrm>
            <a:off x="5865778" y="4803592"/>
            <a:ext cx="59046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Современные позиционные </a:t>
            </a:r>
            <a:r>
              <a:rPr lang="ru-RU" sz="1050" dirty="0" err="1">
                <a:latin typeface="Montserrat" panose="00000500000000000000" pitchFamily="2" charset="-52"/>
              </a:rPr>
              <a:t>эмбединги</a:t>
            </a:r>
            <a:r>
              <a:rPr lang="ru-RU" sz="1050" dirty="0">
                <a:latin typeface="Montserrat" panose="00000500000000000000" pitchFamily="2" charset="-52"/>
              </a:rPr>
              <a:t> тоже обучаются, размерность после их добавления сохраняется: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ru-RU" sz="1050" dirty="0">
                <a:latin typeface="Montserrat" panose="00000500000000000000" pitchFamily="2" charset="-5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293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C4C08-F05F-C7E2-FD00-02B3EA16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E90B4-7695-F976-4B38-1FEE28E9F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9199890" cy="954107"/>
          </a:xfrm>
        </p:spPr>
        <p:txBody>
          <a:bodyPr/>
          <a:lstStyle/>
          <a:p>
            <a:r>
              <a:rPr lang="ru-RU" dirty="0"/>
              <a:t>Немного о размерностях матриц в трансформерах</a:t>
            </a:r>
          </a:p>
        </p:txBody>
      </p:sp>
      <p:pic>
        <p:nvPicPr>
          <p:cNvPr id="17410" name="Picture 2" descr="Что такое трансформеры? (машинное обучение)">
            <a:extLst>
              <a:ext uri="{FF2B5EF4-FFF2-40B4-BE49-F238E27FC236}">
                <a16:creationId xmlns:a16="http://schemas.microsoft.com/office/drawing/2014/main" id="{E07F4CCC-B8C9-6156-EA98-2C7395589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722" y="1264529"/>
            <a:ext cx="3692795" cy="514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76395B-1916-AC32-B45C-1EB77C784B73}"/>
              </a:ext>
            </a:extLst>
          </p:cNvPr>
          <p:cNvSpPr txBox="1"/>
          <p:nvPr/>
        </p:nvSpPr>
        <p:spPr>
          <a:xfrm>
            <a:off x="5865778" y="5796171"/>
            <a:ext cx="59046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вход поступает токен, у каждого токена размерность словаря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Токенов может быть несколько (или много)</a:t>
            </a:r>
            <a:r>
              <a:rPr lang="en-US" sz="1050" dirty="0">
                <a:latin typeface="Montserrat" panose="00000500000000000000" pitchFamily="2" charset="-52"/>
              </a:rPr>
              <a:t> –</a:t>
            </a:r>
            <a:r>
              <a:rPr lang="ru-RU" sz="1050" dirty="0">
                <a:latin typeface="Montserrat" panose="00000500000000000000" pitchFamily="2" charset="-52"/>
              </a:rPr>
              <a:t> обычно это называется длиной последовательности</a:t>
            </a:r>
            <a:r>
              <a:rPr lang="en-US" sz="1050" dirty="0">
                <a:latin typeface="Montserrat" panose="00000500000000000000" pitchFamily="2" charset="-52"/>
              </a:rPr>
              <a:t>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Входная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ru-RU" sz="1050" dirty="0">
              <a:latin typeface="Montserrat" panose="00000500000000000000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22F27-D49A-9470-3EA1-65252C6C5DD9}"/>
              </a:ext>
            </a:extLst>
          </p:cNvPr>
          <p:cNvSpPr txBox="1"/>
          <p:nvPr/>
        </p:nvSpPr>
        <p:spPr>
          <a:xfrm>
            <a:off x="5865778" y="5219090"/>
            <a:ext cx="59046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После применения слоя </a:t>
            </a:r>
            <a:r>
              <a:rPr lang="ru-RU" sz="1050" dirty="0" err="1">
                <a:latin typeface="Montserrat" panose="00000500000000000000" pitchFamily="2" charset="-52"/>
              </a:rPr>
              <a:t>эмбедингов</a:t>
            </a:r>
            <a:r>
              <a:rPr lang="ru-RU" sz="1050" dirty="0">
                <a:latin typeface="Montserrat" panose="00000500000000000000" pitchFamily="2" charset="-52"/>
              </a:rPr>
              <a:t> (его техническая реализация отличается от простого линейного слоя, но в целом они похожи) </a:t>
            </a:r>
            <a:r>
              <a:rPr lang="ru-RU" sz="1050" dirty="0" err="1">
                <a:latin typeface="Montserrat" panose="00000500000000000000" pitchFamily="2" charset="-52"/>
              </a:rPr>
              <a:t>получется</a:t>
            </a:r>
            <a:r>
              <a:rPr lang="ru-RU" sz="1050" dirty="0">
                <a:latin typeface="Montserrat" panose="00000500000000000000" pitchFamily="2" charset="-52"/>
              </a:rPr>
              <a:t> размерность 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endParaRPr lang="ru-RU" sz="1050" dirty="0">
              <a:latin typeface="Montserrat" panose="000005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E00DF-D226-553F-C861-2D81BA44C642}"/>
              </a:ext>
            </a:extLst>
          </p:cNvPr>
          <p:cNvSpPr txBox="1"/>
          <p:nvPr/>
        </p:nvSpPr>
        <p:spPr>
          <a:xfrm>
            <a:off x="5865778" y="4803592"/>
            <a:ext cx="59046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Современные позиционные </a:t>
            </a:r>
            <a:r>
              <a:rPr lang="ru-RU" sz="1050" dirty="0" err="1">
                <a:latin typeface="Montserrat" panose="00000500000000000000" pitchFamily="2" charset="-52"/>
              </a:rPr>
              <a:t>эмбединги</a:t>
            </a:r>
            <a:r>
              <a:rPr lang="ru-RU" sz="1050" dirty="0">
                <a:latin typeface="Montserrat" panose="00000500000000000000" pitchFamily="2" charset="-52"/>
              </a:rPr>
              <a:t> тоже обучаются, размерность после их добавления сохраняется: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ru-RU" sz="1050" dirty="0">
                <a:latin typeface="Montserrat" panose="00000500000000000000" pitchFamily="2" charset="-52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A3396A-58DE-A1A7-3BFE-23BA922EA19E}"/>
              </a:ext>
            </a:extLst>
          </p:cNvPr>
          <p:cNvSpPr txBox="1"/>
          <p:nvPr/>
        </p:nvSpPr>
        <p:spPr>
          <a:xfrm>
            <a:off x="5865778" y="3580180"/>
            <a:ext cx="59046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 err="1">
                <a:latin typeface="Montserrat" panose="00000500000000000000" pitchFamily="2" charset="-52"/>
              </a:rPr>
              <a:t>Многоголове</a:t>
            </a:r>
            <a:r>
              <a:rPr lang="ru-RU" sz="1050" dirty="0">
                <a:latin typeface="Montserrat" panose="00000500000000000000" pitchFamily="2" charset="-52"/>
              </a:rPr>
              <a:t> внимание содержит </a:t>
            </a:r>
            <a:r>
              <a:rPr lang="en-US" sz="1050" dirty="0" err="1">
                <a:latin typeface="Montserrat" panose="00000500000000000000" pitchFamily="2" charset="-52"/>
              </a:rPr>
              <a:t>n_heads</a:t>
            </a:r>
            <a:r>
              <a:rPr lang="en-US" sz="1050" dirty="0">
                <a:latin typeface="Montserrat" panose="00000500000000000000" pitchFamily="2" charset="-52"/>
              </a:rPr>
              <a:t> </a:t>
            </a:r>
            <a:r>
              <a:rPr lang="ru-RU" sz="1050" dirty="0">
                <a:latin typeface="Montserrat" panose="00000500000000000000" pitchFamily="2" charset="-52"/>
              </a:rPr>
              <a:t>голов, каждая имеет размер </a:t>
            </a:r>
            <a:r>
              <a:rPr lang="en-US" sz="1050" dirty="0" err="1">
                <a:latin typeface="Montserrat" panose="00000500000000000000" pitchFamily="2" charset="-52"/>
              </a:rPr>
              <a:t>d_head</a:t>
            </a:r>
            <a:r>
              <a:rPr lang="en-US" sz="1050" dirty="0">
                <a:latin typeface="Montserrat" panose="00000500000000000000" pitchFamily="2" charset="-52"/>
              </a:rPr>
              <a:t>, </a:t>
            </a:r>
            <a:r>
              <a:rPr lang="en-US" sz="1050" dirty="0" err="1">
                <a:latin typeface="Montserrat" panose="00000500000000000000" pitchFamily="2" charset="-52"/>
              </a:rPr>
              <a:t>n_head</a:t>
            </a:r>
            <a:r>
              <a:rPr lang="en-US" sz="1050" dirty="0">
                <a:latin typeface="Montserrat" panose="00000500000000000000" pitchFamily="2" charset="-52"/>
              </a:rPr>
              <a:t> * </a:t>
            </a:r>
            <a:r>
              <a:rPr lang="en-US" sz="1050" dirty="0" err="1">
                <a:latin typeface="Montserrat" panose="00000500000000000000" pitchFamily="2" charset="-52"/>
              </a:rPr>
              <a:t>d_head</a:t>
            </a:r>
            <a:r>
              <a:rPr lang="en-US" sz="1050" dirty="0">
                <a:latin typeface="Montserrat" panose="00000500000000000000" pitchFamily="2" charset="-52"/>
              </a:rPr>
              <a:t> =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en-US" sz="1050" dirty="0">
                <a:latin typeface="Montserrat" panose="00000500000000000000" pitchFamily="2" charset="-52"/>
              </a:rPr>
              <a:t> – </a:t>
            </a:r>
            <a:r>
              <a:rPr lang="ru-RU" sz="1050" dirty="0">
                <a:latin typeface="Montserrat" panose="00000500000000000000" pitchFamily="2" charset="-52"/>
              </a:rPr>
              <a:t>многоголовое внимание собирается вместе конкатенацией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выходе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ru-RU" sz="1050" dirty="0">
                <a:latin typeface="Montserrat" panose="00000500000000000000" pitchFamily="2" charset="-5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0583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73B28-6758-2AE9-6083-A45522B2C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E9234-2CED-ED31-BE7A-AA055B85E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9199890" cy="954107"/>
          </a:xfrm>
        </p:spPr>
        <p:txBody>
          <a:bodyPr/>
          <a:lstStyle/>
          <a:p>
            <a:r>
              <a:rPr lang="ru-RU" dirty="0"/>
              <a:t>Немного о размерностях матриц в трансформерах</a:t>
            </a:r>
          </a:p>
        </p:txBody>
      </p:sp>
      <p:pic>
        <p:nvPicPr>
          <p:cNvPr id="17410" name="Picture 2" descr="Что такое трансформеры? (машинное обучение)">
            <a:extLst>
              <a:ext uri="{FF2B5EF4-FFF2-40B4-BE49-F238E27FC236}">
                <a16:creationId xmlns:a16="http://schemas.microsoft.com/office/drawing/2014/main" id="{A8CC1346-3C03-523A-6C1F-71B677344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722" y="1264529"/>
            <a:ext cx="3692795" cy="514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FF58C-C441-3E0D-D0C0-3871105919AB}"/>
              </a:ext>
            </a:extLst>
          </p:cNvPr>
          <p:cNvSpPr txBox="1"/>
          <p:nvPr/>
        </p:nvSpPr>
        <p:spPr>
          <a:xfrm>
            <a:off x="5865778" y="5796171"/>
            <a:ext cx="59046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вход поступает токен, у каждого токена размерность словаря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Токенов может быть несколько (или много)</a:t>
            </a:r>
            <a:r>
              <a:rPr lang="en-US" sz="1050" dirty="0">
                <a:latin typeface="Montserrat" panose="00000500000000000000" pitchFamily="2" charset="-52"/>
              </a:rPr>
              <a:t> –</a:t>
            </a:r>
            <a:r>
              <a:rPr lang="ru-RU" sz="1050" dirty="0">
                <a:latin typeface="Montserrat" panose="00000500000000000000" pitchFamily="2" charset="-52"/>
              </a:rPr>
              <a:t> обычно это называется длиной последовательности</a:t>
            </a:r>
            <a:r>
              <a:rPr lang="en-US" sz="1050" dirty="0">
                <a:latin typeface="Montserrat" panose="00000500000000000000" pitchFamily="2" charset="-52"/>
              </a:rPr>
              <a:t>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Входная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ru-RU" sz="1050" dirty="0">
              <a:latin typeface="Montserrat" panose="00000500000000000000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832BD8-CF52-6B78-5E37-A50A6B216BF2}"/>
              </a:ext>
            </a:extLst>
          </p:cNvPr>
          <p:cNvSpPr txBox="1"/>
          <p:nvPr/>
        </p:nvSpPr>
        <p:spPr>
          <a:xfrm>
            <a:off x="5865778" y="5219090"/>
            <a:ext cx="59046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После применения слоя </a:t>
            </a:r>
            <a:r>
              <a:rPr lang="ru-RU" sz="1050" dirty="0" err="1">
                <a:latin typeface="Montserrat" panose="00000500000000000000" pitchFamily="2" charset="-52"/>
              </a:rPr>
              <a:t>эмбедингов</a:t>
            </a:r>
            <a:r>
              <a:rPr lang="ru-RU" sz="1050" dirty="0">
                <a:latin typeface="Montserrat" panose="00000500000000000000" pitchFamily="2" charset="-52"/>
              </a:rPr>
              <a:t> (его техническая реализация отличается от простого линейного слоя, но в целом они похожи) </a:t>
            </a:r>
            <a:r>
              <a:rPr lang="ru-RU" sz="1050" dirty="0" err="1">
                <a:latin typeface="Montserrat" panose="00000500000000000000" pitchFamily="2" charset="-52"/>
              </a:rPr>
              <a:t>получется</a:t>
            </a:r>
            <a:r>
              <a:rPr lang="ru-RU" sz="1050" dirty="0">
                <a:latin typeface="Montserrat" panose="00000500000000000000" pitchFamily="2" charset="-52"/>
              </a:rPr>
              <a:t> размерность 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endParaRPr lang="ru-RU" sz="1050" dirty="0">
              <a:latin typeface="Montserrat" panose="000005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8C6BF-6AC3-1686-D8A6-092F7418B1F1}"/>
              </a:ext>
            </a:extLst>
          </p:cNvPr>
          <p:cNvSpPr txBox="1"/>
          <p:nvPr/>
        </p:nvSpPr>
        <p:spPr>
          <a:xfrm>
            <a:off x="5865778" y="4803592"/>
            <a:ext cx="59046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Современные позиционные </a:t>
            </a:r>
            <a:r>
              <a:rPr lang="ru-RU" sz="1050" dirty="0" err="1">
                <a:latin typeface="Montserrat" panose="00000500000000000000" pitchFamily="2" charset="-52"/>
              </a:rPr>
              <a:t>эмбединги</a:t>
            </a:r>
            <a:r>
              <a:rPr lang="ru-RU" sz="1050" dirty="0">
                <a:latin typeface="Montserrat" panose="00000500000000000000" pitchFamily="2" charset="-52"/>
              </a:rPr>
              <a:t> тоже обучаются, размерность после их добавления сохраняется: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ru-RU" sz="1050" dirty="0">
                <a:latin typeface="Montserrat" panose="00000500000000000000" pitchFamily="2" charset="-52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D4C9FA-34C3-6A44-0ED9-813CDF9197C9}"/>
              </a:ext>
            </a:extLst>
          </p:cNvPr>
          <p:cNvSpPr txBox="1"/>
          <p:nvPr/>
        </p:nvSpPr>
        <p:spPr>
          <a:xfrm>
            <a:off x="5865778" y="3580180"/>
            <a:ext cx="59046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 err="1">
                <a:latin typeface="Montserrat" panose="00000500000000000000" pitchFamily="2" charset="-52"/>
              </a:rPr>
              <a:t>Многоголове</a:t>
            </a:r>
            <a:r>
              <a:rPr lang="ru-RU" sz="1050" dirty="0">
                <a:latin typeface="Montserrat" panose="00000500000000000000" pitchFamily="2" charset="-52"/>
              </a:rPr>
              <a:t> внимание содержит </a:t>
            </a:r>
            <a:r>
              <a:rPr lang="en-US" sz="1050" dirty="0" err="1">
                <a:latin typeface="Montserrat" panose="00000500000000000000" pitchFamily="2" charset="-52"/>
              </a:rPr>
              <a:t>n_heads</a:t>
            </a:r>
            <a:r>
              <a:rPr lang="en-US" sz="1050" dirty="0">
                <a:latin typeface="Montserrat" panose="00000500000000000000" pitchFamily="2" charset="-52"/>
              </a:rPr>
              <a:t> </a:t>
            </a:r>
            <a:r>
              <a:rPr lang="ru-RU" sz="1050" dirty="0">
                <a:latin typeface="Montserrat" panose="00000500000000000000" pitchFamily="2" charset="-52"/>
              </a:rPr>
              <a:t>голов, каждая имеет размер </a:t>
            </a:r>
            <a:r>
              <a:rPr lang="en-US" sz="1050" dirty="0" err="1">
                <a:latin typeface="Montserrat" panose="00000500000000000000" pitchFamily="2" charset="-52"/>
              </a:rPr>
              <a:t>d_head</a:t>
            </a:r>
            <a:r>
              <a:rPr lang="en-US" sz="1050" dirty="0">
                <a:latin typeface="Montserrat" panose="00000500000000000000" pitchFamily="2" charset="-52"/>
              </a:rPr>
              <a:t>, </a:t>
            </a:r>
            <a:r>
              <a:rPr lang="en-US" sz="1050" dirty="0" err="1">
                <a:latin typeface="Montserrat" panose="00000500000000000000" pitchFamily="2" charset="-52"/>
              </a:rPr>
              <a:t>n_head</a:t>
            </a:r>
            <a:r>
              <a:rPr lang="en-US" sz="1050" dirty="0">
                <a:latin typeface="Montserrat" panose="00000500000000000000" pitchFamily="2" charset="-52"/>
              </a:rPr>
              <a:t> * </a:t>
            </a:r>
            <a:r>
              <a:rPr lang="en-US" sz="1050" dirty="0" err="1">
                <a:latin typeface="Montserrat" panose="00000500000000000000" pitchFamily="2" charset="-52"/>
              </a:rPr>
              <a:t>d_head</a:t>
            </a:r>
            <a:r>
              <a:rPr lang="en-US" sz="1050" dirty="0">
                <a:latin typeface="Montserrat" panose="00000500000000000000" pitchFamily="2" charset="-52"/>
              </a:rPr>
              <a:t> =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en-US" sz="1050" dirty="0">
                <a:latin typeface="Montserrat" panose="00000500000000000000" pitchFamily="2" charset="-52"/>
              </a:rPr>
              <a:t> – </a:t>
            </a:r>
            <a:r>
              <a:rPr lang="ru-RU" sz="1050" dirty="0">
                <a:latin typeface="Montserrat" panose="00000500000000000000" pitchFamily="2" charset="-52"/>
              </a:rPr>
              <a:t>многоголовое внимание собирается вместе конкатенацией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выходе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ru-RU" sz="1050" dirty="0">
                <a:latin typeface="Montserrat" panose="00000500000000000000" pitchFamily="2" charset="-5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D6A344-1F56-1E41-D198-6F5DFFF0B41E}"/>
              </a:ext>
            </a:extLst>
          </p:cNvPr>
          <p:cNvSpPr txBox="1"/>
          <p:nvPr/>
        </p:nvSpPr>
        <p:spPr>
          <a:xfrm>
            <a:off x="5865778" y="2518351"/>
            <a:ext cx="59046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Два </a:t>
            </a:r>
            <a:r>
              <a:rPr lang="ru-RU" sz="1050" dirty="0" err="1">
                <a:latin typeface="Montserrat" panose="00000500000000000000" pitchFamily="2" charset="-52"/>
              </a:rPr>
              <a:t>полносвязных</a:t>
            </a:r>
            <a:r>
              <a:rPr lang="ru-RU" sz="1050" dirty="0">
                <a:latin typeface="Montserrat" panose="00000500000000000000" pitchFamily="2" charset="-52"/>
              </a:rPr>
              <a:t> нейронных слоя, которые по размерности модели расширяют, а затем сужают пространство признаков</a:t>
            </a:r>
            <a:r>
              <a:rPr lang="en-US" sz="1050" dirty="0">
                <a:latin typeface="Montserrat" panose="00000500000000000000" pitchFamily="2" charset="-52"/>
              </a:rPr>
              <a:t>: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en-US" sz="1050" dirty="0">
                <a:latin typeface="Montserrat" panose="00000500000000000000" pitchFamily="2" charset="-52"/>
              </a:rPr>
              <a:t> -&gt; </a:t>
            </a:r>
            <a:r>
              <a:rPr lang="en-US" sz="1050" dirty="0" err="1">
                <a:latin typeface="Montserrat" panose="00000500000000000000" pitchFamily="2" charset="-52"/>
              </a:rPr>
              <a:t>d_inside</a:t>
            </a:r>
            <a:r>
              <a:rPr lang="en-US" sz="1050" dirty="0">
                <a:latin typeface="Montserrat" panose="00000500000000000000" pitchFamily="2" charset="-52"/>
              </a:rPr>
              <a:t> -&gt;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en-US" sz="1050" dirty="0">
                <a:latin typeface="Montserrat" panose="00000500000000000000" pitchFamily="2" charset="-52"/>
              </a:rPr>
              <a:t> (</a:t>
            </a:r>
            <a:r>
              <a:rPr lang="ru-RU" sz="1050" dirty="0">
                <a:latin typeface="Montserrat" panose="00000500000000000000" pitchFamily="2" charset="-52"/>
              </a:rPr>
              <a:t>это нужно для добавления нелинейности)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выходе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ru-RU" sz="1050" dirty="0">
                <a:latin typeface="Montserrat" panose="00000500000000000000" pitchFamily="2" charset="-5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4274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17D7-DE30-90F4-6454-986C2E77F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67A81-951E-E16F-95AD-506B2504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9199890" cy="954107"/>
          </a:xfrm>
        </p:spPr>
        <p:txBody>
          <a:bodyPr/>
          <a:lstStyle/>
          <a:p>
            <a:r>
              <a:rPr lang="ru-RU" dirty="0"/>
              <a:t>Немного о размерностях матриц в трансформерах</a:t>
            </a:r>
          </a:p>
        </p:txBody>
      </p:sp>
      <p:pic>
        <p:nvPicPr>
          <p:cNvPr id="17410" name="Picture 2" descr="Что такое трансформеры? (машинное обучение)">
            <a:extLst>
              <a:ext uri="{FF2B5EF4-FFF2-40B4-BE49-F238E27FC236}">
                <a16:creationId xmlns:a16="http://schemas.microsoft.com/office/drawing/2014/main" id="{651F4B4C-09A2-45BC-5B44-86AB8129D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722" y="1264529"/>
            <a:ext cx="3692795" cy="514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A3F55F-6D2A-0DFA-902C-FA8FFC1FDA57}"/>
              </a:ext>
            </a:extLst>
          </p:cNvPr>
          <p:cNvSpPr txBox="1"/>
          <p:nvPr/>
        </p:nvSpPr>
        <p:spPr>
          <a:xfrm>
            <a:off x="5865778" y="5796171"/>
            <a:ext cx="59046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вход поступает токен, у каждого токена размерность словаря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Токенов может быть несколько (или много)</a:t>
            </a:r>
            <a:r>
              <a:rPr lang="en-US" sz="1050" dirty="0">
                <a:latin typeface="Montserrat" panose="00000500000000000000" pitchFamily="2" charset="-52"/>
              </a:rPr>
              <a:t> –</a:t>
            </a:r>
            <a:r>
              <a:rPr lang="ru-RU" sz="1050" dirty="0">
                <a:latin typeface="Montserrat" panose="00000500000000000000" pitchFamily="2" charset="-52"/>
              </a:rPr>
              <a:t> обычно это называется длиной последовательности</a:t>
            </a:r>
            <a:r>
              <a:rPr lang="en-US" sz="1050" dirty="0">
                <a:latin typeface="Montserrat" panose="00000500000000000000" pitchFamily="2" charset="-52"/>
              </a:rPr>
              <a:t>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50" dirty="0">
              <a:latin typeface="Montserrat" panose="00000500000000000000" pitchFamily="2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Входная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ru-RU" sz="1050" dirty="0">
              <a:latin typeface="Montserrat" panose="00000500000000000000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3201B-0F72-3A73-E65B-4D45BFBB11E0}"/>
              </a:ext>
            </a:extLst>
          </p:cNvPr>
          <p:cNvSpPr txBox="1"/>
          <p:nvPr/>
        </p:nvSpPr>
        <p:spPr>
          <a:xfrm>
            <a:off x="5865778" y="5219090"/>
            <a:ext cx="59046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После применения слоя </a:t>
            </a:r>
            <a:r>
              <a:rPr lang="ru-RU" sz="1050" dirty="0" err="1">
                <a:latin typeface="Montserrat" panose="00000500000000000000" pitchFamily="2" charset="-52"/>
              </a:rPr>
              <a:t>эмбедингов</a:t>
            </a:r>
            <a:r>
              <a:rPr lang="ru-RU" sz="1050" dirty="0">
                <a:latin typeface="Montserrat" panose="00000500000000000000" pitchFamily="2" charset="-52"/>
              </a:rPr>
              <a:t> (его техническая реализация отличается от простого линейного слоя, но в целом они похожи) </a:t>
            </a:r>
            <a:r>
              <a:rPr lang="ru-RU" sz="1050" dirty="0" err="1">
                <a:latin typeface="Montserrat" panose="00000500000000000000" pitchFamily="2" charset="-52"/>
              </a:rPr>
              <a:t>получется</a:t>
            </a:r>
            <a:r>
              <a:rPr lang="ru-RU" sz="1050" dirty="0">
                <a:latin typeface="Montserrat" panose="00000500000000000000" pitchFamily="2" charset="-52"/>
              </a:rPr>
              <a:t> размерность 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endParaRPr lang="ru-RU" sz="1050" dirty="0">
              <a:latin typeface="Montserrat" panose="000005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DF0FC-3C14-A515-A922-3C8B64981631}"/>
              </a:ext>
            </a:extLst>
          </p:cNvPr>
          <p:cNvSpPr txBox="1"/>
          <p:nvPr/>
        </p:nvSpPr>
        <p:spPr>
          <a:xfrm>
            <a:off x="5865778" y="4803592"/>
            <a:ext cx="59046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Современные позиционные </a:t>
            </a:r>
            <a:r>
              <a:rPr lang="ru-RU" sz="1050" dirty="0" err="1">
                <a:latin typeface="Montserrat" panose="00000500000000000000" pitchFamily="2" charset="-52"/>
              </a:rPr>
              <a:t>эмбединги</a:t>
            </a:r>
            <a:r>
              <a:rPr lang="ru-RU" sz="1050" dirty="0">
                <a:latin typeface="Montserrat" panose="00000500000000000000" pitchFamily="2" charset="-52"/>
              </a:rPr>
              <a:t> тоже обучаются, размерность после их добавления сохраняется: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ru-RU" sz="1050" dirty="0">
                <a:latin typeface="Montserrat" panose="00000500000000000000" pitchFamily="2" charset="-52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59345-CCE2-FB39-F751-2E47F6867496}"/>
              </a:ext>
            </a:extLst>
          </p:cNvPr>
          <p:cNvSpPr txBox="1"/>
          <p:nvPr/>
        </p:nvSpPr>
        <p:spPr>
          <a:xfrm>
            <a:off x="5865778" y="3580180"/>
            <a:ext cx="59046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 err="1">
                <a:latin typeface="Montserrat" panose="00000500000000000000" pitchFamily="2" charset="-52"/>
              </a:rPr>
              <a:t>Многоголове</a:t>
            </a:r>
            <a:r>
              <a:rPr lang="ru-RU" sz="1050" dirty="0">
                <a:latin typeface="Montserrat" panose="00000500000000000000" pitchFamily="2" charset="-52"/>
              </a:rPr>
              <a:t> внимание содержит </a:t>
            </a:r>
            <a:r>
              <a:rPr lang="en-US" sz="1050" dirty="0" err="1">
                <a:latin typeface="Montserrat" panose="00000500000000000000" pitchFamily="2" charset="-52"/>
              </a:rPr>
              <a:t>n_heads</a:t>
            </a:r>
            <a:r>
              <a:rPr lang="en-US" sz="1050" dirty="0">
                <a:latin typeface="Montserrat" panose="00000500000000000000" pitchFamily="2" charset="-52"/>
              </a:rPr>
              <a:t> </a:t>
            </a:r>
            <a:r>
              <a:rPr lang="ru-RU" sz="1050" dirty="0">
                <a:latin typeface="Montserrat" panose="00000500000000000000" pitchFamily="2" charset="-52"/>
              </a:rPr>
              <a:t>голов, каждая имеет размер </a:t>
            </a:r>
            <a:r>
              <a:rPr lang="en-US" sz="1050" dirty="0" err="1">
                <a:latin typeface="Montserrat" panose="00000500000000000000" pitchFamily="2" charset="-52"/>
              </a:rPr>
              <a:t>d_head</a:t>
            </a:r>
            <a:r>
              <a:rPr lang="en-US" sz="1050" dirty="0">
                <a:latin typeface="Montserrat" panose="00000500000000000000" pitchFamily="2" charset="-52"/>
              </a:rPr>
              <a:t>, </a:t>
            </a:r>
            <a:r>
              <a:rPr lang="en-US" sz="1050" dirty="0" err="1">
                <a:latin typeface="Montserrat" panose="00000500000000000000" pitchFamily="2" charset="-52"/>
              </a:rPr>
              <a:t>n_head</a:t>
            </a:r>
            <a:r>
              <a:rPr lang="en-US" sz="1050" dirty="0">
                <a:latin typeface="Montserrat" panose="00000500000000000000" pitchFamily="2" charset="-52"/>
              </a:rPr>
              <a:t> * </a:t>
            </a:r>
            <a:r>
              <a:rPr lang="en-US" sz="1050" dirty="0" err="1">
                <a:latin typeface="Montserrat" panose="00000500000000000000" pitchFamily="2" charset="-52"/>
              </a:rPr>
              <a:t>d_head</a:t>
            </a:r>
            <a:r>
              <a:rPr lang="en-US" sz="1050" dirty="0">
                <a:latin typeface="Montserrat" panose="00000500000000000000" pitchFamily="2" charset="-52"/>
              </a:rPr>
              <a:t> =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en-US" sz="1050" dirty="0">
                <a:latin typeface="Montserrat" panose="00000500000000000000" pitchFamily="2" charset="-52"/>
              </a:rPr>
              <a:t> – </a:t>
            </a:r>
            <a:r>
              <a:rPr lang="ru-RU" sz="1050" dirty="0">
                <a:latin typeface="Montserrat" panose="00000500000000000000" pitchFamily="2" charset="-52"/>
              </a:rPr>
              <a:t>многоголовое внимание собирается вместе конкатенацией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выходе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ru-RU" sz="1050" dirty="0">
                <a:latin typeface="Montserrat" panose="00000500000000000000" pitchFamily="2" charset="-5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595C3-C126-8072-6E85-590893F9F207}"/>
              </a:ext>
            </a:extLst>
          </p:cNvPr>
          <p:cNvSpPr txBox="1"/>
          <p:nvPr/>
        </p:nvSpPr>
        <p:spPr>
          <a:xfrm>
            <a:off x="5865778" y="2518351"/>
            <a:ext cx="59046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Два </a:t>
            </a:r>
            <a:r>
              <a:rPr lang="ru-RU" sz="1050" dirty="0" err="1">
                <a:latin typeface="Montserrat" panose="00000500000000000000" pitchFamily="2" charset="-52"/>
              </a:rPr>
              <a:t>полносвязных</a:t>
            </a:r>
            <a:r>
              <a:rPr lang="ru-RU" sz="1050" dirty="0">
                <a:latin typeface="Montserrat" panose="00000500000000000000" pitchFamily="2" charset="-52"/>
              </a:rPr>
              <a:t> нейронных слоя, которые по размерности модели расширяют, а затем сужают пространство признаков</a:t>
            </a:r>
            <a:r>
              <a:rPr lang="en-US" sz="1050" dirty="0">
                <a:latin typeface="Montserrat" panose="00000500000000000000" pitchFamily="2" charset="-52"/>
              </a:rPr>
              <a:t>: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en-US" sz="1050" dirty="0">
                <a:latin typeface="Montserrat" panose="00000500000000000000" pitchFamily="2" charset="-52"/>
              </a:rPr>
              <a:t> -&gt; </a:t>
            </a:r>
            <a:r>
              <a:rPr lang="en-US" sz="1050" dirty="0" err="1">
                <a:latin typeface="Montserrat" panose="00000500000000000000" pitchFamily="2" charset="-52"/>
              </a:rPr>
              <a:t>d_inside</a:t>
            </a:r>
            <a:r>
              <a:rPr lang="en-US" sz="1050" dirty="0">
                <a:latin typeface="Montserrat" panose="00000500000000000000" pitchFamily="2" charset="-52"/>
              </a:rPr>
              <a:t> -&gt;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en-US" sz="1050" dirty="0">
                <a:latin typeface="Montserrat" panose="00000500000000000000" pitchFamily="2" charset="-52"/>
              </a:rPr>
              <a:t> (</a:t>
            </a:r>
            <a:r>
              <a:rPr lang="ru-RU" sz="1050" dirty="0">
                <a:latin typeface="Montserrat" panose="00000500000000000000" pitchFamily="2" charset="-52"/>
              </a:rPr>
              <a:t>это нужно для добавления нелинейности)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На выходе размерность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d_model</a:t>
            </a:r>
            <a:r>
              <a:rPr lang="ru-RU" sz="1050" dirty="0">
                <a:latin typeface="Montserrat" panose="00000500000000000000" pitchFamily="2" charset="-52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DB4B8-A83C-130C-73F9-A53F0F4FA349}"/>
              </a:ext>
            </a:extLst>
          </p:cNvPr>
          <p:cNvSpPr txBox="1"/>
          <p:nvPr/>
        </p:nvSpPr>
        <p:spPr>
          <a:xfrm>
            <a:off x="5865778" y="1674846"/>
            <a:ext cx="59046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dirty="0">
                <a:latin typeface="Montserrat" panose="00000500000000000000" pitchFamily="2" charset="-52"/>
              </a:rPr>
              <a:t>Разворачиваем пространство модели в пространство словаря (или делаем другие действия). Итоговая размерность: </a:t>
            </a:r>
            <a:r>
              <a:rPr lang="en-US" sz="1050" dirty="0" err="1">
                <a:latin typeface="Montserrat" panose="00000500000000000000" pitchFamily="2" charset="-52"/>
              </a:rPr>
              <a:t>seq_len</a:t>
            </a:r>
            <a:r>
              <a:rPr lang="en-US" sz="1050" dirty="0">
                <a:latin typeface="Montserrat" panose="00000500000000000000" pitchFamily="2" charset="-52"/>
              </a:rPr>
              <a:t> x </a:t>
            </a:r>
            <a:r>
              <a:rPr lang="en-US" sz="1050" dirty="0" err="1">
                <a:latin typeface="Montserrat" panose="00000500000000000000" pitchFamily="2" charset="-52"/>
              </a:rPr>
              <a:t>d_vocab</a:t>
            </a:r>
            <a:endParaRPr lang="ru-RU" sz="105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42560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407D4A7-BA2F-1820-EBD9-C124A23829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9D79AAF-ABAE-3D89-3CE7-9EC8E1F70F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6FF9820-55E6-D243-8B81-BE2A833E76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98167"/>
            <a:ext cx="6414538" cy="2308324"/>
          </a:xfrm>
        </p:spPr>
        <p:txBody>
          <a:bodyPr/>
          <a:lstStyle/>
          <a:p>
            <a:r>
              <a:rPr lang="ru-RU" dirty="0"/>
              <a:t>Разные трансформеры и </a:t>
            </a:r>
            <a:r>
              <a:rPr lang="en-US" dirty="0"/>
              <a:t>BERT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9981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0ADA8-A98F-9788-697B-61C50855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работают с </a:t>
            </a:r>
            <a:r>
              <a:rPr lang="ru-RU" dirty="0" err="1"/>
              <a:t>трансфомерами</a:t>
            </a:r>
            <a:r>
              <a:rPr lang="ru-RU" dirty="0"/>
              <a:t>?</a:t>
            </a:r>
          </a:p>
        </p:txBody>
      </p:sp>
      <p:pic>
        <p:nvPicPr>
          <p:cNvPr id="5" name="Picture 2" descr="Что такое трансформеры? (машинное обучение)">
            <a:extLst>
              <a:ext uri="{FF2B5EF4-FFF2-40B4-BE49-F238E27FC236}">
                <a16:creationId xmlns:a16="http://schemas.microsoft.com/office/drawing/2014/main" id="{457D3BB7-B7A6-7CFF-4AE3-B3B180D7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552" y="1225619"/>
            <a:ext cx="3692795" cy="514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5A289B-6544-0BD8-09C6-BBA81C6FDC25}"/>
              </a:ext>
            </a:extLst>
          </p:cNvPr>
          <p:cNvSpPr/>
          <p:nvPr/>
        </p:nvSpPr>
        <p:spPr>
          <a:xfrm>
            <a:off x="1192490" y="1108953"/>
            <a:ext cx="4698459" cy="538994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A0738B1-5C59-5C5F-D5FF-7716DC1851FE}"/>
              </a:ext>
            </a:extLst>
          </p:cNvPr>
          <p:cNvSpPr/>
          <p:nvPr/>
        </p:nvSpPr>
        <p:spPr>
          <a:xfrm>
            <a:off x="5890950" y="1108953"/>
            <a:ext cx="4698459" cy="5389946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991B06D-6438-7EC5-9335-EE802513DBDF}"/>
              </a:ext>
            </a:extLst>
          </p:cNvPr>
          <p:cNvSpPr/>
          <p:nvPr/>
        </p:nvSpPr>
        <p:spPr>
          <a:xfrm>
            <a:off x="984967" y="980102"/>
            <a:ext cx="9783552" cy="569307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FB11C-1F5E-1F25-3545-216DD852BA54}"/>
              </a:ext>
            </a:extLst>
          </p:cNvPr>
          <p:cNvSpPr txBox="1"/>
          <p:nvPr/>
        </p:nvSpPr>
        <p:spPr>
          <a:xfrm>
            <a:off x="1305287" y="1225619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FFC000"/>
                </a:solidFill>
                <a:effectLst/>
                <a:latin typeface="system-ui"/>
              </a:rPr>
              <a:t>BERT</a:t>
            </a:r>
            <a:endParaRPr lang="ru-RU" dirty="0">
              <a:solidFill>
                <a:srgbClr val="FFC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3E6A5C-B15C-87FC-5982-1B3D5D89830B}"/>
              </a:ext>
            </a:extLst>
          </p:cNvPr>
          <p:cNvSpPr txBox="1"/>
          <p:nvPr/>
        </p:nvSpPr>
        <p:spPr>
          <a:xfrm>
            <a:off x="447161" y="956688"/>
            <a:ext cx="195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T5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819811-90B7-18B7-5093-89ABE33B3474}"/>
              </a:ext>
            </a:extLst>
          </p:cNvPr>
          <p:cNvSpPr txBox="1"/>
          <p:nvPr/>
        </p:nvSpPr>
        <p:spPr>
          <a:xfrm>
            <a:off x="9759462" y="1141354"/>
            <a:ext cx="717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46C2A"/>
                </a:solidFill>
                <a:effectLst/>
                <a:latin typeface="system-ui"/>
              </a:rPr>
              <a:t>GPT</a:t>
            </a:r>
            <a:endParaRPr lang="ru-RU" dirty="0">
              <a:solidFill>
                <a:srgbClr val="E46C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564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89FD4-7FAB-461B-D8F6-3524CFE0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47DF9-7D39-E65E-FA94-5552622F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для </a:t>
            </a:r>
            <a:r>
              <a:rPr lang="en-US" dirty="0" err="1"/>
              <a:t>endoder</a:t>
            </a:r>
            <a:r>
              <a:rPr lang="en-US" dirty="0"/>
              <a:t>-only </a:t>
            </a:r>
            <a:r>
              <a:rPr lang="ru-RU" dirty="0"/>
              <a:t>моделей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731C6-392C-CDD2-C912-8F251A725B34}"/>
              </a:ext>
            </a:extLst>
          </p:cNvPr>
          <p:cNvSpPr txBox="1"/>
          <p:nvPr/>
        </p:nvSpPr>
        <p:spPr>
          <a:xfrm>
            <a:off x="559572" y="2227634"/>
            <a:ext cx="869500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Классификация текста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Разметка (поиск) именованных сущностей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Поиск ответа в имеющемся контексте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Оценка схожести текстов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Предсказание пропущенных слов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Классификация токенов внутри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08438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BD64B-ABA7-105E-8A78-9D352B54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35E2B-3F47-9344-B803-6CD19312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для </a:t>
            </a:r>
            <a:r>
              <a:rPr lang="en-US" dirty="0"/>
              <a:t>decoder-only </a:t>
            </a:r>
            <a:r>
              <a:rPr lang="ru-RU" dirty="0"/>
              <a:t>моделей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088E34-BF76-A871-545F-24BB21371E75}"/>
              </a:ext>
            </a:extLst>
          </p:cNvPr>
          <p:cNvSpPr txBox="1"/>
          <p:nvPr/>
        </p:nvSpPr>
        <p:spPr>
          <a:xfrm>
            <a:off x="559572" y="2227634"/>
            <a:ext cx="649729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Генерация текста про </a:t>
            </a:r>
            <a:r>
              <a:rPr lang="ru-RU" sz="2800" dirty="0" err="1">
                <a:latin typeface="Montserrat" panose="00000500000000000000" pitchFamily="2" charset="-52"/>
              </a:rPr>
              <a:t>промпту</a:t>
            </a:r>
            <a:endParaRPr lang="ru-RU" sz="2800" dirty="0">
              <a:latin typeface="Montserrat" panose="00000500000000000000" pitchFamily="2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Поддержание диалога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Суммаризация текста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Перевод</a:t>
            </a:r>
          </a:p>
        </p:txBody>
      </p:sp>
    </p:spTree>
    <p:extLst>
      <p:ext uri="{BB962C8B-B14F-4D97-AF65-F5344CB8AC3E}">
        <p14:creationId xmlns:p14="http://schemas.microsoft.com/office/powerpoint/2010/main" val="286654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0609E-4C95-C829-4C8F-3E5F02375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1B0106-C850-C7B1-A2BB-23CB039B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для </a:t>
            </a:r>
            <a:r>
              <a:rPr lang="en-US" dirty="0"/>
              <a:t>encoder-decoder </a:t>
            </a:r>
            <a:r>
              <a:rPr lang="ru-RU" dirty="0"/>
              <a:t>моделей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117AA6-F6E1-54B5-0F18-513AFA007ED5}"/>
              </a:ext>
            </a:extLst>
          </p:cNvPr>
          <p:cNvSpPr txBox="1"/>
          <p:nvPr/>
        </p:nvSpPr>
        <p:spPr>
          <a:xfrm>
            <a:off x="559572" y="2227634"/>
            <a:ext cx="1079654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Машинный перевод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Точная суммаризация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Преобразование структурированных данных в текст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Перевод</a:t>
            </a:r>
          </a:p>
        </p:txBody>
      </p:sp>
    </p:spTree>
    <p:extLst>
      <p:ext uri="{BB962C8B-B14F-4D97-AF65-F5344CB8AC3E}">
        <p14:creationId xmlns:p14="http://schemas.microsoft.com/office/powerpoint/2010/main" val="1062265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07B68-58B8-2C26-95DF-FD24639C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Полный и неполный контекст</a:t>
            </a:r>
          </a:p>
        </p:txBody>
      </p:sp>
      <p:pic>
        <p:nvPicPr>
          <p:cNvPr id="1026" name="Picture 2" descr="Сравнение однонаправленного и двунаправленного контекста. Изображение предоставлено автором.">
            <a:extLst>
              <a:ext uri="{FF2B5EF4-FFF2-40B4-BE49-F238E27FC236}">
                <a16:creationId xmlns:a16="http://schemas.microsoft.com/office/drawing/2014/main" id="{AE80B5B0-263C-FB78-EC35-AB81BCEBE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964" y="1443076"/>
            <a:ext cx="6372720" cy="468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048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0AA95-AE1D-F403-CD27-7042F9CB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строится токенизация в </a:t>
            </a:r>
            <a:r>
              <a:rPr lang="en-US" dirty="0"/>
              <a:t>BERT?</a:t>
            </a:r>
            <a:endParaRPr lang="ru-RU" dirty="0"/>
          </a:p>
        </p:txBody>
      </p:sp>
      <p:pic>
        <p:nvPicPr>
          <p:cNvPr id="2050" name="Picture 2" descr="Обзор процесса встраивания BERT. Изображение взято из статьи о BERT [1].">
            <a:extLst>
              <a:ext uri="{FF2B5EF4-FFF2-40B4-BE49-F238E27FC236}">
                <a16:creationId xmlns:a16="http://schemas.microsoft.com/office/drawing/2014/main" id="{D7B1D20B-8B25-5ACC-58D9-51771285B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73200"/>
            <a:ext cx="12192000" cy="391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103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5C9B6-AF26-3B42-55AD-04E6FA16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A8056-482E-F460-500C-049D009DC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Токены в </a:t>
            </a:r>
            <a:r>
              <a:rPr lang="en-US" dirty="0"/>
              <a:t>BERT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99793-BAEF-3F82-2D0F-51D21BA2DB71}"/>
              </a:ext>
            </a:extLst>
          </p:cNvPr>
          <p:cNvSpPr txBox="1"/>
          <p:nvPr/>
        </p:nvSpPr>
        <p:spPr>
          <a:xfrm>
            <a:off x="262328" y="1208942"/>
            <a:ext cx="1145998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[PAD](идентификатор токена: 0) – дополнительный токен, используемый для увеличения общего количества токенов во входной последовательности до 512.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[UNK](идентификатор токена: 100) – неизвестный токен, используемый для обозначения токена, отсутствующего в словаре BERT.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[CLS](идентификатор токена: 101) – токен классификации, который ожидается в начале каждой последовательности, независимо от того, используется он или нет. Этот токен содержит информацию о классе для задач классификации и может рассматриваться как агрегированное представление последовательности.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[SEP](идентификатор токена: 102) – разделительный токен, используемый для различения двух сегментов в одной входной последовательности (например, в функции прогнозирования следующего предложения). [SEP</a:t>
            </a:r>
            <a:r>
              <a:rPr lang="en-US" dirty="0">
                <a:latin typeface="Montserrat" panose="00000500000000000000" pitchFamily="2" charset="-52"/>
              </a:rPr>
              <a:t>]-</a:t>
            </a:r>
            <a:r>
              <a:rPr lang="ru-RU" dirty="0">
                <a:latin typeface="Montserrat" panose="00000500000000000000" pitchFamily="2" charset="-52"/>
              </a:rPr>
              <a:t>токенов может быть один или два..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[MASK](идентификатор токена: 103) – токен маски, используемый для обучения BERT на задаче моделирования языка с маскированием или для выполнения вывода на основе последовательности с маскированием .</a:t>
            </a:r>
          </a:p>
        </p:txBody>
      </p:sp>
    </p:spTree>
    <p:extLst>
      <p:ext uri="{BB962C8B-B14F-4D97-AF65-F5344CB8AC3E}">
        <p14:creationId xmlns:p14="http://schemas.microsoft.com/office/powerpoint/2010/main" val="1050342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032D7-17E2-7B5E-926C-9C698131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Устранение пробелов в текстах</a:t>
            </a:r>
          </a:p>
        </p:txBody>
      </p:sp>
      <p:pic>
        <p:nvPicPr>
          <p:cNvPr id="3074" name="Picture 2" descr="MLM — Документация по преобразователям предложений">
            <a:extLst>
              <a:ext uri="{FF2B5EF4-FFF2-40B4-BE49-F238E27FC236}">
                <a16:creationId xmlns:a16="http://schemas.microsoft.com/office/drawing/2014/main" id="{BB1FE5F9-B8E5-47AB-ED80-599C946C2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347" y="1986040"/>
            <a:ext cx="7553325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FC96F9-7E4D-3F51-00FD-B2D958AA8876}"/>
              </a:ext>
            </a:extLst>
          </p:cNvPr>
          <p:cNvSpPr txBox="1"/>
          <p:nvPr/>
        </p:nvSpPr>
        <p:spPr>
          <a:xfrm>
            <a:off x="262328" y="2273243"/>
            <a:ext cx="42647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Во входном тексте заменяем 15% текста на </a:t>
            </a:r>
            <a:r>
              <a:rPr lang="ru-RU" dirty="0" err="1">
                <a:latin typeface="Montserrat" panose="00000500000000000000" pitchFamily="2" charset="-52"/>
              </a:rPr>
              <a:t>спецтокен</a:t>
            </a:r>
            <a:r>
              <a:rPr lang="ru-RU" dirty="0">
                <a:latin typeface="Montserrat" panose="00000500000000000000" pitchFamily="2" charset="-52"/>
              </a:rPr>
              <a:t> для маскирования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Решаем задачу предсказания только для маскированного токена, и только на нём считаем </a:t>
            </a:r>
            <a:r>
              <a:rPr lang="ru-RU" dirty="0" err="1">
                <a:latin typeface="Montserrat" panose="00000500000000000000" pitchFamily="2" charset="-52"/>
              </a:rPr>
              <a:t>лосс</a:t>
            </a:r>
            <a:endParaRPr lang="ru-RU" dirty="0">
              <a:latin typeface="Montserrat" panose="00000500000000000000" pitchFamily="2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Функция потерь – кросс-энтропия</a:t>
            </a:r>
          </a:p>
        </p:txBody>
      </p:sp>
    </p:spTree>
    <p:extLst>
      <p:ext uri="{BB962C8B-B14F-4D97-AF65-F5344CB8AC3E}">
        <p14:creationId xmlns:p14="http://schemas.microsoft.com/office/powerpoint/2010/main" val="4174461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2A78-3CB1-53CA-BC6C-56A335031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656AE-3877-2336-F768-248DAC31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9199890" cy="954107"/>
          </a:xfrm>
        </p:spPr>
        <p:txBody>
          <a:bodyPr/>
          <a:lstStyle/>
          <a:p>
            <a:r>
              <a:rPr lang="ru-RU" dirty="0"/>
              <a:t>Классификация и поиск следующего предложения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A9A682-C023-3678-A704-CE8911BD6509}"/>
              </a:ext>
            </a:extLst>
          </p:cNvPr>
          <p:cNvSpPr txBox="1"/>
          <p:nvPr/>
        </p:nvSpPr>
        <p:spPr>
          <a:xfrm>
            <a:off x="262328" y="2273243"/>
            <a:ext cx="42647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Следует ли за первой частью вторая?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Части разделены </a:t>
            </a:r>
            <a:r>
              <a:rPr lang="ru-RU" dirty="0" err="1">
                <a:latin typeface="Montserrat" panose="00000500000000000000" pitchFamily="2" charset="-52"/>
              </a:rPr>
              <a:t>спецтокеном</a:t>
            </a:r>
            <a:r>
              <a:rPr lang="ru-RU" dirty="0">
                <a:latin typeface="Montserrat" panose="00000500000000000000" pitchFamily="2" charset="-52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Предсказание «снимается» с первого </a:t>
            </a:r>
            <a:r>
              <a:rPr lang="ru-RU" dirty="0" err="1">
                <a:latin typeface="Montserrat" panose="00000500000000000000" pitchFamily="2" charset="-52"/>
              </a:rPr>
              <a:t>спецтокена</a:t>
            </a:r>
            <a:endParaRPr lang="ru-RU" dirty="0">
              <a:latin typeface="Montserrat" panose="00000500000000000000" pitchFamily="2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Можно через </a:t>
            </a:r>
            <a:r>
              <a:rPr lang="ru-RU" dirty="0" err="1">
                <a:latin typeface="Montserrat" panose="00000500000000000000" pitchFamily="2" charset="-52"/>
              </a:rPr>
              <a:t>спецтокен</a:t>
            </a:r>
            <a:r>
              <a:rPr lang="ru-RU" dirty="0">
                <a:latin typeface="Montserrat" panose="00000500000000000000" pitchFamily="2" charset="-52"/>
              </a:rPr>
              <a:t> решать любую задачу классификации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Часть слов может всё так же быть пропущена</a:t>
            </a:r>
          </a:p>
        </p:txBody>
      </p:sp>
      <p:pic>
        <p:nvPicPr>
          <p:cNvPr id="4098" name="Picture 2" descr="BERT (Bidirectional Encoder Representation From Transformers) | EKbana ML Study Group">
            <a:extLst>
              <a:ext uri="{FF2B5EF4-FFF2-40B4-BE49-F238E27FC236}">
                <a16:creationId xmlns:a16="http://schemas.microsoft.com/office/drawing/2014/main" id="{8AB8137C-A226-EEFF-BD08-2F21DE56C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72" y="1921053"/>
            <a:ext cx="6267979" cy="4309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783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55820-AA11-62C9-ECF5-757C4179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0D090D5-5BBE-FE32-E969-0A3D9A5CFB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ACBFED2-BC62-6815-06E1-2228364612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0EB404B-9F7D-9BFC-0E7B-4398413DD6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98167"/>
            <a:ext cx="6414538" cy="1200329"/>
          </a:xfrm>
        </p:spPr>
        <p:txBody>
          <a:bodyPr/>
          <a:lstStyle/>
          <a:p>
            <a:r>
              <a:rPr lang="ru-RU" dirty="0"/>
              <a:t>Куда развиваются трансформеры</a:t>
            </a:r>
          </a:p>
        </p:txBody>
      </p:sp>
    </p:spTree>
    <p:extLst>
      <p:ext uri="{BB962C8B-B14F-4D97-AF65-F5344CB8AC3E}">
        <p14:creationId xmlns:p14="http://schemas.microsoft.com/office/powerpoint/2010/main" val="1856408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E2713-99F3-3B26-6DC0-95C40947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Надо развивать позиционное кодирование</a:t>
            </a:r>
          </a:p>
        </p:txBody>
      </p:sp>
      <p:pic>
        <p:nvPicPr>
          <p:cNvPr id="6146" name="Picture 2" descr="Матрица такого кодирования ">
            <a:extLst>
              <a:ext uri="{FF2B5EF4-FFF2-40B4-BE49-F238E27FC236}">
                <a16:creationId xmlns:a16="http://schemas.microsoft.com/office/drawing/2014/main" id="{BBD9F056-17A4-C720-980B-C8BE441A7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84153"/>
            <a:ext cx="7134473" cy="3447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75D6FE-8CA7-5048-D307-A4BA7FD09D32}"/>
              </a:ext>
            </a:extLst>
          </p:cNvPr>
          <p:cNvSpPr txBox="1"/>
          <p:nvPr/>
        </p:nvSpPr>
        <p:spPr>
          <a:xfrm>
            <a:off x="7627111" y="2244638"/>
            <a:ext cx="42647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Исходный вариант позиционного кодирования необучаемый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Есть странные шаблоны в такого типа кодировании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Всё равно сохраняется эффект масштаба (видно на картинке)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99025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BDA58-660F-CEAD-0759-C9F098B4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B9130-83FE-EA2F-19A3-6E484875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Можно убрать позиционное кодирование</a:t>
            </a:r>
          </a:p>
        </p:txBody>
      </p:sp>
      <p:pic>
        <p:nvPicPr>
          <p:cNvPr id="5122" name="Picture 2" descr="Лучшая метрика у модели без кодирования">
            <a:extLst>
              <a:ext uri="{FF2B5EF4-FFF2-40B4-BE49-F238E27FC236}">
                <a16:creationId xmlns:a16="http://schemas.microsoft.com/office/drawing/2014/main" id="{4B335247-8EDA-0590-92E9-685CF5A93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899" y="1368125"/>
            <a:ext cx="9658662" cy="4166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F6573C-37A2-9D07-90AB-C55FA58AE874}"/>
              </a:ext>
            </a:extLst>
          </p:cNvPr>
          <p:cNvSpPr txBox="1"/>
          <p:nvPr/>
        </p:nvSpPr>
        <p:spPr>
          <a:xfrm>
            <a:off x="3800006" y="5534680"/>
            <a:ext cx="61009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Kazemnejad A. et al. The impact of positional encoding on length generalization in transformers //Advances in Neural Information Processing Systems. – 2023. – Т. 36. – С. 24892-24928.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2491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44ECA-5E7A-4DD2-E85D-F8929290C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можно его не убирать</a:t>
            </a:r>
          </a:p>
        </p:txBody>
      </p:sp>
      <p:pic>
        <p:nvPicPr>
          <p:cNvPr id="7170" name="Picture 2" descr="Схема работы Rotary embeddings">
            <a:extLst>
              <a:ext uri="{FF2B5EF4-FFF2-40B4-BE49-F238E27FC236}">
                <a16:creationId xmlns:a16="http://schemas.microsoft.com/office/drawing/2014/main" id="{57AFC332-EB71-C8C8-B013-873A42415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310" y="2023672"/>
            <a:ext cx="9618310" cy="346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287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4D75B-F3B2-3135-6D9E-75FDBF79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Ускоряем </a:t>
            </a:r>
            <a:r>
              <a:rPr lang="en-US" dirty="0"/>
              <a:t>attention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717682-B786-2079-14BC-BC5B7A780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485900"/>
            <a:ext cx="95250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83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3E8C2-C4A9-F745-780A-D8047F5B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Усложняем </a:t>
            </a:r>
            <a:r>
              <a:rPr lang="en-US" dirty="0"/>
              <a:t>attention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623A3E-21A9-0D78-A238-CE924B520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1404937"/>
            <a:ext cx="845820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03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A4B4D-1232-4E54-790B-91BE7F6DF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Оптимизируем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99C90B-8625-8A8F-D4EA-42354898C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2081212"/>
            <a:ext cx="824865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88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9E292-4C11-1128-52DE-5D6D9557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Нормализация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AA7BA7-4BF1-D8A5-4ECE-D7DE3D1E7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42" y="1405376"/>
            <a:ext cx="5103964" cy="474952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59A0BD-36ED-0E50-F68B-86CAF6185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921" y="2638268"/>
            <a:ext cx="6338937" cy="241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74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D7D4270-3123-458E-88F5-C1569F6C2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2936041" cy="1277273"/>
          </a:xfrm>
        </p:spPr>
        <p:txBody>
          <a:bodyPr/>
          <a:lstStyle/>
          <a:p>
            <a:r>
              <a:rPr lang="ru-RU" dirty="0"/>
              <a:t>Удачи!</a:t>
            </a:r>
          </a:p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4038617518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5481</TotalTime>
  <Words>1238</Words>
  <Application>Microsoft Office PowerPoint</Application>
  <PresentationFormat>Широкоэкранный</PresentationFormat>
  <Paragraphs>125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3" baseType="lpstr">
      <vt:lpstr>system-ui</vt:lpstr>
      <vt:lpstr>Calibri</vt:lpstr>
      <vt:lpstr>Montserrat</vt:lpstr>
      <vt:lpstr>Arial</vt:lpstr>
      <vt:lpstr>Шаблон МИФИ</vt:lpstr>
      <vt:lpstr>Презентация PowerPoint</vt:lpstr>
      <vt:lpstr>Презентация PowerPoint</vt:lpstr>
      <vt:lpstr>Немного о размерностях матриц в трансформерах</vt:lpstr>
      <vt:lpstr>Зачем нужны эмбединги?</vt:lpstr>
      <vt:lpstr>Немного о размерностях матриц в трансформерах</vt:lpstr>
      <vt:lpstr>Немного о размерностях матриц в трансформерах</vt:lpstr>
      <vt:lpstr>Немного о размерностях матриц в трансформерах</vt:lpstr>
      <vt:lpstr>Немного о размерностях матриц в трансформерах</vt:lpstr>
      <vt:lpstr>Немного о размерностях матриц в трансформерах</vt:lpstr>
      <vt:lpstr>Презентация PowerPoint</vt:lpstr>
      <vt:lpstr>Как работают с трансфомерами?</vt:lpstr>
      <vt:lpstr>Задачи для endoder-only моделей </vt:lpstr>
      <vt:lpstr>Задачи для decoder-only моделей </vt:lpstr>
      <vt:lpstr>Задачи для encoder-decoder моделей </vt:lpstr>
      <vt:lpstr>Полный и неполный контекст</vt:lpstr>
      <vt:lpstr>Как строится токенизация в BERT?</vt:lpstr>
      <vt:lpstr>Токены в BERT</vt:lpstr>
      <vt:lpstr>Устранение пробелов в текстах</vt:lpstr>
      <vt:lpstr>Классификация и поиск следующего предложения</vt:lpstr>
      <vt:lpstr>Презентация PowerPoint</vt:lpstr>
      <vt:lpstr>Надо развивать позиционное кодирование</vt:lpstr>
      <vt:lpstr>Можно убрать позиционное кодирование</vt:lpstr>
      <vt:lpstr>А можно его не убирать</vt:lpstr>
      <vt:lpstr>Ускоряем attention</vt:lpstr>
      <vt:lpstr>Усложняем attention</vt:lpstr>
      <vt:lpstr>Оптимизируем</vt:lpstr>
      <vt:lpstr>Нормализация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Алексей Егоров</cp:lastModifiedBy>
  <cp:revision>63</cp:revision>
  <dcterms:created xsi:type="dcterms:W3CDTF">2020-05-28T16:18:16Z</dcterms:created>
  <dcterms:modified xsi:type="dcterms:W3CDTF">2026-05-09T16:13:08Z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